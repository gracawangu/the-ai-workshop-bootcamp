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d577fbd0b9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g3d577fbd0b9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d577fbd0b9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577fbd0b9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d577fbd0b9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d577fbd0b9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THE AI WORKSHOP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54864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SQL Fundamentals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&amp; AI-Assisted Querying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200400" y="2240280"/>
            <a:ext cx="2743200" cy="38404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200400" y="224028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14-Week SQL &amp; AI Bootcamp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0040" y="2743200"/>
            <a:ext cx="2743200" cy="1371600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20040" y="2743200"/>
            <a:ext cx="64008" cy="13716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84632" y="27889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🎉 Welcome Back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4632" y="3136392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Easter check-in — how's everyone doing?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154680" y="2743200"/>
            <a:ext cx="2743200" cy="1371600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154680" y="2743200"/>
            <a:ext cx="64008" cy="13716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319272" y="27889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📺 Last Session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319272" y="3136392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Covered by Kelechi — recording on YouTube. Link was sent — go watch it!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989320" y="2743200"/>
            <a:ext cx="2743200" cy="1371600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5989320" y="2743200"/>
            <a:ext cx="64008" cy="13716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153912" y="27889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📅 Today's Focus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153912" y="3136392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SQL clauses, execution order &amp; AI-assisted querying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43159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/>
          <p:nvPr/>
        </p:nvSpPr>
        <p:spPr>
          <a:xfrm>
            <a:off x="777240" y="431596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Recording available on YouTube — link sent in the group 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0" y="5088636"/>
            <a:ext cx="9144000" cy="549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-18225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18288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50" y="1245527"/>
            <a:ext cx="8229600" cy="20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database is an organised, electronic store of structured data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Relational databases use tables, keys, and schemas to organise data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Metadata is 'data about data' and is essential for understanding and governing your datasets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is the universal language of data, used across engineering, analytics, and cloud platforms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t/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054247" y="295445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📺 Last Session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153912" y="3136392"/>
            <a:ext cx="2469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43159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777240" y="4315968"/>
            <a:ext cx="777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Recording available on YouTube — link sent in the group 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Today's Session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74980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What we're covering in this session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02920" y="1005840"/>
            <a:ext cx="8138160" cy="228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20040" y="1097280"/>
            <a:ext cx="4023360" cy="1143000"/>
          </a:xfrm>
          <a:prstGeom prst="rect">
            <a:avLst/>
          </a:prstGeom>
          <a:solidFill>
            <a:srgbClr val="162334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20040" y="1097280"/>
            <a:ext cx="502920" cy="1143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20040" y="1097280"/>
            <a:ext cx="502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14400" y="118872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Common SQL Clauses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14400" y="1499616"/>
            <a:ext cx="3337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SELECT, FROM, WHERE, GROUP BY, HAVING, ORDER BY — the essential toolkit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0" y="1097280"/>
            <a:ext cx="4023360" cy="1143000"/>
          </a:xfrm>
          <a:prstGeom prst="rect">
            <a:avLst/>
          </a:prstGeom>
          <a:solidFill>
            <a:srgbClr val="162334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572000" y="1097280"/>
            <a:ext cx="502920" cy="1143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572000" y="1097280"/>
            <a:ext cx="502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166360" y="118872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Order of Execution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166360" y="1499616"/>
            <a:ext cx="3337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Understanding how SQL processes your queries — the engine's perspective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0040" y="2395728"/>
            <a:ext cx="4023360" cy="1143000"/>
          </a:xfrm>
          <a:prstGeom prst="rect">
            <a:avLst/>
          </a:prstGeom>
          <a:solidFill>
            <a:srgbClr val="162334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20040" y="2395728"/>
            <a:ext cx="502920" cy="1143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320040" y="2395728"/>
            <a:ext cx="502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914400" y="2487168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Interpreting Questions as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14400" y="2798064"/>
            <a:ext cx="3337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Translating plain English business questions into working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0" y="2395728"/>
            <a:ext cx="4023360" cy="1143000"/>
          </a:xfrm>
          <a:prstGeom prst="rect">
            <a:avLst/>
          </a:prstGeom>
          <a:solidFill>
            <a:srgbClr val="162334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572000" y="2395728"/>
            <a:ext cx="502920" cy="1143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0" y="2395728"/>
            <a:ext cx="502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166360" y="2487168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Using AI to Write Queries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166360" y="2798064"/>
            <a:ext cx="3337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Prompting AI effectively — context is everything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20040" y="3694176"/>
            <a:ext cx="4023360" cy="1143000"/>
          </a:xfrm>
          <a:prstGeom prst="rect">
            <a:avLst/>
          </a:prstGeom>
          <a:solidFill>
            <a:srgbClr val="162334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20040" y="3694176"/>
            <a:ext cx="502920" cy="1143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20040" y="3694176"/>
            <a:ext cx="502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914400" y="3785616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Dictionary with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14400" y="4096512"/>
            <a:ext cx="3337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Generating professional documentation straight from a table schema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0" y="3694176"/>
            <a:ext cx="4023360" cy="1143000"/>
          </a:xfrm>
          <a:prstGeom prst="rect">
            <a:avLst/>
          </a:prstGeom>
          <a:solidFill>
            <a:srgbClr val="162334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572000" y="3694176"/>
            <a:ext cx="502920" cy="1143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572000" y="3694176"/>
            <a:ext cx="502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166360" y="3785616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166360" y="4096512"/>
            <a:ext cx="3337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Hands-on tasks to put today's learning into practice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Your First Query &amp; Common Clauses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02920" y="74980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Always start by getting a feel for your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02920" y="1005840"/>
            <a:ext cx="8138160" cy="228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20061" y="1097275"/>
            <a:ext cx="8475600" cy="1508700"/>
          </a:xfrm>
          <a:prstGeom prst="rect">
            <a:avLst/>
          </a:prstGeom>
          <a:solidFill>
            <a:srgbClr val="09152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20060" y="1097275"/>
            <a:ext cx="8198700" cy="2925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11480" y="109728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SQL Server / T-SQL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57200" y="1417325"/>
            <a:ext cx="806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SELECT TOP 10  *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FROM  table_name;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20061" y="2724900"/>
            <a:ext cx="8475600" cy="1234500"/>
          </a:xfrm>
          <a:prstGeom prst="rect">
            <a:avLst/>
          </a:prstGeom>
          <a:solidFill>
            <a:srgbClr val="09152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320040" y="2724912"/>
            <a:ext cx="4114800" cy="292608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11469" y="2724900"/>
            <a:ext cx="838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PostgreSQL / MySQL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3044950"/>
            <a:ext cx="7676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SELECT 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FROM  table_name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LIMIT  10;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20060" y="4069075"/>
            <a:ext cx="8138100" cy="777300"/>
          </a:xfrm>
          <a:prstGeom prst="rect">
            <a:avLst/>
          </a:prstGeom>
          <a:solidFill>
            <a:srgbClr val="1F0A0A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57200" y="4096500"/>
            <a:ext cx="7326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⚠️  Never run SELECT * on a large table without a LIMIT or TOP — you could crash your session or overload the server.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0" y="5088636"/>
            <a:ext cx="9144000" cy="549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02920" y="164592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Your First Query &amp; Common Clauses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02920" y="1005840"/>
            <a:ext cx="8138100" cy="228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754880" y="1078992"/>
            <a:ext cx="406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The 6 Essential Clauses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754880" y="1481328"/>
            <a:ext cx="4114800" cy="502800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754880" y="1481328"/>
            <a:ext cx="1234500" cy="5028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754880" y="1481328"/>
            <a:ext cx="123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053328" y="1481328"/>
            <a:ext cx="2761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Choose which columns to return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754880" y="2048256"/>
            <a:ext cx="4114800" cy="502800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754880" y="2048256"/>
            <a:ext cx="1234500" cy="5028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754880" y="2048256"/>
            <a:ext cx="123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053328" y="2048256"/>
            <a:ext cx="2761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Specify the table(s) to query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754880" y="2615184"/>
            <a:ext cx="4114800" cy="502800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754880" y="2615184"/>
            <a:ext cx="1234500" cy="5028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754880" y="2615184"/>
            <a:ext cx="123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053328" y="2615184"/>
            <a:ext cx="2761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Filter rows before grouping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754880" y="3182112"/>
            <a:ext cx="4114800" cy="502800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754880" y="3182112"/>
            <a:ext cx="1234500" cy="5028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754880" y="3182112"/>
            <a:ext cx="123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053328" y="3182112"/>
            <a:ext cx="2761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Aggregate rows by 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754880" y="3749040"/>
            <a:ext cx="4114800" cy="502800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754880" y="3749040"/>
            <a:ext cx="1234500" cy="5028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754880" y="3749040"/>
            <a:ext cx="123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HAVING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053328" y="3749040"/>
            <a:ext cx="2761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Filter groups after aggregation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754880" y="4315968"/>
            <a:ext cx="4114800" cy="502800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754880" y="4315968"/>
            <a:ext cx="1234500" cy="5028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754880" y="4315968"/>
            <a:ext cx="123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053328" y="4315968"/>
            <a:ext cx="2761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Sort the final result 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Order of Execution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02920" y="74980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SQL processes your query in a specific order — not how you write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02920" y="1005840"/>
            <a:ext cx="8138160" cy="228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069848" y="1609344"/>
            <a:ext cx="54864" cy="1371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20040" y="1097280"/>
            <a:ext cx="4572000" cy="530352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84048" y="1179576"/>
            <a:ext cx="365760" cy="3657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84048" y="11795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68680" y="114300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2029968" y="114300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Identify the table(s) — load the data source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069848" y="2240280"/>
            <a:ext cx="54864" cy="1371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20040" y="1728216"/>
            <a:ext cx="4572000" cy="530352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384048" y="1810512"/>
            <a:ext cx="365760" cy="3657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384048" y="18105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868680" y="1773936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029968" y="1773936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Filter individual rows based on conditions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69848" y="2871216"/>
            <a:ext cx="54864" cy="1371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320040" y="2359152"/>
            <a:ext cx="4572000" cy="530352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384048" y="2441448"/>
            <a:ext cx="365760" cy="3657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84048" y="24414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868680" y="2404872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2029968" y="240487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Group filtered rows into aggregate buckets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069848" y="3502152"/>
            <a:ext cx="54864" cy="1371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20040" y="2990088"/>
            <a:ext cx="4572000" cy="530352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84048" y="3072384"/>
            <a:ext cx="365760" cy="3657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84048" y="30723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68680" y="303580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HAVING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029968" y="3035808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Filter those groups based on aggregate 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069848" y="4133088"/>
            <a:ext cx="54864" cy="1371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320040" y="3621024"/>
            <a:ext cx="4572000" cy="530352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384048" y="3703320"/>
            <a:ext cx="365760" cy="3657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84048" y="37033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68680" y="3666744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029968" y="3666744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Choose and compute the columns to return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20040" y="4251960"/>
            <a:ext cx="4572000" cy="530352"/>
          </a:xfrm>
          <a:prstGeom prst="rect">
            <a:avLst/>
          </a:prstGeom>
          <a:solidFill>
            <a:srgbClr val="0F2233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384048" y="4334256"/>
            <a:ext cx="365760" cy="3657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384048" y="43342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868680" y="429768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029968" y="429768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Sort the final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120640" y="1097280"/>
            <a:ext cx="3657600" cy="2240280"/>
          </a:xfrm>
          <a:prstGeom prst="rect">
            <a:avLst/>
          </a:prstGeom>
          <a:solidFill>
            <a:srgbClr val="0A1F36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230368" y="118872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💡 Think of it like BODMAS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230368" y="1572768"/>
            <a:ext cx="3429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Just like maths has BODMAS (order of operations), SQL has its own fixed processing order.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You write SELECT first — but SQL reads FROM first.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Understanding this is the key to translating any business question into a correct query.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120640" y="3456432"/>
            <a:ext cx="3657600" cy="1371600"/>
          </a:xfrm>
          <a:prstGeom prst="rect">
            <a:avLst/>
          </a:prstGeom>
          <a:solidFill>
            <a:srgbClr val="091A2E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5230368" y="35204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Read a Question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230368" y="3858768"/>
            <a:ext cx="3429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1. What table? </a:t>
            </a:r>
            <a: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(FROM)  </a:t>
            </a: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2. Which rows? </a:t>
            </a:r>
            <a: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(WHERE)</a:t>
            </a:r>
            <a:b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3. Any grouping? </a:t>
            </a:r>
            <a: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(GROUP BY)  </a:t>
            </a: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4. Filter groups? </a:t>
            </a:r>
            <a: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(HAVING)</a:t>
            </a:r>
            <a:b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5. What to show? </a:t>
            </a:r>
            <a: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(SELECT)  </a:t>
            </a: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6. In what order? </a:t>
            </a:r>
            <a: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(ORDER BY)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Prompting AI for SQL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02920" y="74980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Context is everything — don't wait for AI to 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02920" y="1005840"/>
            <a:ext cx="8138160" cy="228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320040" y="1097280"/>
            <a:ext cx="8503920" cy="1143000"/>
          </a:xfrm>
          <a:prstGeom prst="rect">
            <a:avLst/>
          </a:prstGeom>
          <a:solidFill>
            <a:srgbClr val="0A1F36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6187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1115568" y="1133856"/>
            <a:ext cx="7406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Restaurant Analogy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115568" y="1463040"/>
            <a:ext cx="7406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A great restaurant asks about your allergies and how you want your steak before they cook it. Don't wait for AI to ask — give it everything upfront.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20040" y="2377440"/>
            <a:ext cx="4023360" cy="1170432"/>
          </a:xfrm>
          <a:prstGeom prst="rect">
            <a:avLst/>
          </a:prstGeom>
          <a:solidFill>
            <a:srgbClr val="162334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57200" y="2514600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57200" y="25146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014984" y="2487168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Database Type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014984" y="2798064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SQL Server, PostgreSQL, MySQL, BigQuery? Syntax varies — always specify.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0" y="2377440"/>
            <a:ext cx="4023360" cy="1170432"/>
          </a:xfrm>
          <a:prstGeom prst="rect">
            <a:avLst/>
          </a:prstGeom>
          <a:solidFill>
            <a:srgbClr val="162334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709160" y="2514600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709160" y="25146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266944" y="2487168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Table Definitions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266944" y="2798064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Paste in your CREATE TABLE or column list. AI can't guess your schema.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20040" y="3675888"/>
            <a:ext cx="4023360" cy="1170432"/>
          </a:xfrm>
          <a:prstGeom prst="rect">
            <a:avLst/>
          </a:prstGeom>
          <a:solidFill>
            <a:srgbClr val="162334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57200" y="3813048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57200" y="381304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014984" y="378561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Considerations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014984" y="4096512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Mention nulls, date formats, known quirks, or row counts if relevant.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572000" y="3675888"/>
            <a:ext cx="4023360" cy="1170432"/>
          </a:xfrm>
          <a:prstGeom prst="rect">
            <a:avLst/>
          </a:prstGeom>
          <a:solidFill>
            <a:srgbClr val="162334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709160" y="3813048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709160" y="381304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266944" y="378561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Plain English 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266944" y="4096512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State exactly what you need. 'I want a count of referrals per month for 2024.'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✅  Context-rich prompts produce production-ready queries first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 in Action — Two Demonstrations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502920" y="74980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Watch how context transforms AI output quality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02920" y="1005840"/>
            <a:ext cx="8138160" cy="228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320040" y="1097280"/>
            <a:ext cx="4023360" cy="3200400"/>
          </a:xfrm>
          <a:prstGeom prst="rect">
            <a:avLst/>
          </a:prstGeom>
          <a:solidFill>
            <a:srgbClr val="0A1F36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320040" y="1097280"/>
            <a:ext cx="4023360" cy="42062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11480" y="1097280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DEMO 1  —  Query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1600200"/>
            <a:ext cx="374904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We'll prompt AI with: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• Database type</a:t>
            </a:r>
            <a:b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• Table schema</a:t>
            </a:r>
            <a:b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• A plain English question</a:t>
            </a:r>
            <a:b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Expected result:</a:t>
            </a:r>
            <a:b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A complete, runnable SQL query — no edits needed before pasting into the codespace.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800600" y="1097280"/>
            <a:ext cx="4023360" cy="3200400"/>
          </a:xfrm>
          <a:prstGeom prst="rect">
            <a:avLst/>
          </a:prstGeom>
          <a:solidFill>
            <a:srgbClr val="0A1F36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4800600" y="1097280"/>
            <a:ext cx="4023360" cy="420624"/>
          </a:xfrm>
          <a:prstGeom prst="rect">
            <a:avLst/>
          </a:prstGeom>
          <a:solidFill>
            <a:srgbClr val="1A5C4A"/>
          </a:solidFill>
          <a:ln cap="flat" cmpd="sng" w="12700">
            <a:solidFill>
              <a:srgbClr val="1A5C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4892040" y="1097280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DEMO 2  —  Data Dictionary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919472" y="1600200"/>
            <a:ext cx="374904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We'll use the same prompt template with just a table schema — no live client data needed.</a:t>
            </a:r>
            <a:b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What is a data dictionary?</a:t>
            </a:r>
            <a:b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A document that records the meaning, format, and context of each column in a database. Essential for team collaboration and handovers.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20040" y="4434840"/>
            <a:ext cx="8503920" cy="621792"/>
          </a:xfrm>
          <a:prstGeom prst="rect">
            <a:avLst/>
          </a:prstGeom>
          <a:solidFill>
            <a:srgbClr val="09152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457200" y="446227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Prompt Template: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920240" y="4462272"/>
            <a:ext cx="6675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1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"I am using [DB type]. Here is my table schema: [...]. [Request]. Consider [any data notes]."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502920" y="164592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Classwork &amp; Session Close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02920" y="74980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Put it into practice — then keep going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02920" y="1005840"/>
            <a:ext cx="8138160" cy="228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320040" y="1097280"/>
            <a:ext cx="4023360" cy="2240280"/>
          </a:xfrm>
          <a:prstGeom prst="rect">
            <a:avLst/>
          </a:prstGeom>
          <a:solidFill>
            <a:srgbClr val="0A1F36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320040" y="1097280"/>
            <a:ext cx="4023360" cy="40233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11480" y="109728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TASK 1  —  Write a SQL Query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11475" y="1604150"/>
            <a:ext cx="39318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Calculate the number of admissions for each combination of admission type and diagnosis, then return only the unique admission types with their overall admission counts.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Run it in the codespace and share your output.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800600" y="1097280"/>
            <a:ext cx="4023360" cy="2240280"/>
          </a:xfrm>
          <a:prstGeom prst="rect">
            <a:avLst/>
          </a:prstGeom>
          <a:solidFill>
            <a:srgbClr val="0A1F36"/>
          </a:solidFill>
          <a:ln cap="flat" cmpd="sng" w="12700">
            <a:solidFill>
              <a:srgbClr val="1A8C7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800600" y="1097280"/>
            <a:ext cx="4023360" cy="402336"/>
          </a:xfrm>
          <a:prstGeom prst="rect">
            <a:avLst/>
          </a:prstGeom>
          <a:solidFill>
            <a:srgbClr val="1A8C70"/>
          </a:solidFill>
          <a:ln cap="flat" cmpd="sng" w="12700">
            <a:solidFill>
              <a:srgbClr val="1A8C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4892040" y="109728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TASK 2  —  Generate a Data Dictionary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919472" y="1554480"/>
            <a:ext cx="3749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Take the </a:t>
            </a:r>
            <a:r>
              <a:rPr lang="en-US" sz="130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admissions </a:t>
            </a:r>
            <a:r>
              <a:rPr b="0" i="0" lang="en-US" sz="13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table definition (no live data needed).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Use AI with the prompt template to generate a professional data dictionary.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Export or copy it into a doc you could share with a team.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320040" y="3456432"/>
            <a:ext cx="8503920" cy="228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20040" y="3520440"/>
            <a:ext cx="8503920" cy="1280160"/>
          </a:xfrm>
          <a:prstGeom prst="rect">
            <a:avLst/>
          </a:prstGeom>
          <a:solidFill>
            <a:srgbClr val="091A2E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320040" y="3520440"/>
            <a:ext cx="64008" cy="12801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370332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/>
          <p:nvPr/>
        </p:nvSpPr>
        <p:spPr>
          <a:xfrm>
            <a:off x="1115568" y="3547872"/>
            <a:ext cx="7543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Getting into data isn't easy — but once you're in, you're sorted.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115568" y="3931920"/>
            <a:ext cx="754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Participate in the daily interview question — knowledge retention is cumulative. Show up consistently. Be so good the industry can't ignore you.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0B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0B4"/>
                </a:solidFill>
                <a:latin typeface="Calibri"/>
                <a:ea typeface="Calibri"/>
                <a:cs typeface="Calibri"/>
                <a:sym typeface="Calibri"/>
              </a:rPr>
              <a:t>Next session: Saturday as usual  ·  Keep practising this week  ·  Any questions → group chat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